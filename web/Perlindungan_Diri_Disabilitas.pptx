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4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840480" cy="3840480"/>
          </a:xfrm>
          <a:prstGeom prst="ellipse">
            <a:avLst/>
          </a:prstGeom>
          <a:solidFill>
            <a:srgbClr val="6B3FA0">
              <a:alpha val="40000"/>
            </a:srgbClr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3017520"/>
            <a:ext cx="3108960" cy="3108960"/>
          </a:xfrm>
          <a:prstGeom prst="ellipse">
            <a:avLst/>
          </a:prstGeom>
          <a:solidFill>
            <a:srgbClr val="6B3FA0">
              <a:alpha val="40000"/>
            </a:srgbClr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457200"/>
            <a:ext cx="1645920" cy="1645920"/>
          </a:xfrm>
          <a:prstGeom prst="ellipse">
            <a:avLst/>
          </a:prstGeom>
          <a:solidFill>
            <a:srgbClr val="F5C518">
              <a:alpha val="55000"/>
            </a:srgbClr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4114800"/>
            <a:ext cx="1097280" cy="1097280"/>
          </a:xfrm>
          <a:prstGeom prst="ellipse">
            <a:avLst/>
          </a:prstGeom>
          <a:solidFill>
            <a:srgbClr val="1B8A8F">
              <a:alpha val="45000"/>
            </a:srgbClr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2004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2468"/>
                </a:solidFill>
              </a:rPr>
              <a:t>SAFE-ABLE  •  PKM-PM 2024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128016" cy="23774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82296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82296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dirty="0">
                <a:solidFill>
                  <a:srgbClr val="000000"/>
                </a:solidFill>
              </a:rPr>
              <a:t>🛡️</a:t>
            </a:r>
            <a:endParaRPr lang="en-US" sz="8800" dirty="0"/>
          </a:p>
        </p:txBody>
      </p:sp>
      <p:sp>
        <p:nvSpPr>
          <p:cNvPr id="11" name="Text 9"/>
          <p:cNvSpPr/>
          <p:nvPr/>
        </p:nvSpPr>
        <p:spPr>
          <a:xfrm>
            <a:off x="685800" y="896112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Perlindungan Diri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85800" y="166420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Anak Disabilitas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85800" y="24963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A8E0"/>
                </a:solidFill>
              </a:rPr>
              <a:t>Belajar mengenali bahaya &amp; cara melindungi diri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3090672"/>
            <a:ext cx="1965960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0906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🔒 Tubuhku Milikku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88920" y="3090672"/>
            <a:ext cx="1965960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8920" y="30906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⚠️ Kenali Bahaya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3090672"/>
            <a:ext cx="1965960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0906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🗣️ Bilang TIDAK!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95160" y="3090672"/>
            <a:ext cx="1965960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30906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🆘 Minta Tolong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1A0D30"/>
          </a:solidFill>
          <a:ln w="12700">
            <a:solidFill>
              <a:srgbClr val="1A0D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C518"/>
                </a:solidFill>
              </a:rPr>
              <a:t>SLB Negeri 1 Makassar  •  Materi Edukasi Adaptif untuk Siswa Disabilitas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🗺️  Apa Saja yang Akan Kita Pelajari?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1024128"/>
            <a:ext cx="20848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1024128"/>
            <a:ext cx="2084832" cy="64008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170432"/>
            <a:ext cx="365760" cy="365760"/>
          </a:xfrm>
          <a:prstGeom prst="ellipse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170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17043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033"/>
                </a:solidFill>
              </a:rPr>
              <a:t>💪 Aku Berhak Dilindungi!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" y="161848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A6A"/>
                </a:solidFill>
              </a:rPr>
              <a:t>Setiap anak berhak mendapat perlindungan dan rasa aman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95728" y="1024128"/>
            <a:ext cx="20848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95728" y="1024128"/>
            <a:ext cx="2084832" cy="64008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87168" y="1170432"/>
            <a:ext cx="365760" cy="36576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170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0" y="117043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033"/>
                </a:solidFill>
              </a:rPr>
              <a:t>🔒 Tubuhku Milikku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87168" y="161848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A6A"/>
                </a:solidFill>
              </a:rPr>
              <a:t>Bagian pribadi tubuh yang harus dijaga dari sentuhan tidak aman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90288" y="1024128"/>
            <a:ext cx="20848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90288" y="1024128"/>
            <a:ext cx="2084832" cy="64008"/>
          </a:xfrm>
          <a:prstGeom prst="rect">
            <a:avLst/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1728" y="1170432"/>
            <a:ext cx="365760" cy="365760"/>
          </a:xfrm>
          <a:prstGeom prst="ellipse">
            <a:avLst/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1170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117043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033"/>
                </a:solidFill>
              </a:rPr>
              <a:t>✅❌ Sentuhan Aman vs Tidak Aman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81728" y="161848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A6A"/>
                </a:solidFill>
              </a:rPr>
              <a:t>Belajar membedakan sentuhan yang baik dan yang harus ditolak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84848" y="1024128"/>
            <a:ext cx="20848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84848" y="1024128"/>
            <a:ext cx="2084832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76288" y="1170432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76288" y="1170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0" y="117043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033"/>
                </a:solidFill>
              </a:rPr>
              <a:t>⚠️ Kenali Tanda Bahaya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76288" y="161848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A6A"/>
                </a:solidFill>
              </a:rPr>
              <a:t>Situasi dan perilaku orang yang harus diwaspadai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1168" y="2596896"/>
            <a:ext cx="20848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1168" y="2596896"/>
            <a:ext cx="2084832" cy="640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" y="2743200"/>
            <a:ext cx="365760" cy="365760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27432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033"/>
                </a:solidFill>
              </a:rPr>
              <a:t>🗣️ Bilang TIDAK &amp; Lari!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92608" y="3191256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A6A"/>
                </a:solidFill>
              </a:rPr>
              <a:t>Cara menolak dan melindungi diri saat merasa tidak aman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395728" y="2596896"/>
            <a:ext cx="20848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395728" y="2596896"/>
            <a:ext cx="2084832" cy="640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87168" y="2743200"/>
            <a:ext cx="365760" cy="36576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8716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926080" y="27432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033"/>
                </a:solidFill>
              </a:rPr>
              <a:t>🆘 Minta Tolong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487168" y="3191256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A6A"/>
                </a:solidFill>
              </a:rPr>
              <a:t>Kepada siapa dan bagaimana cara minta bantuan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90288" y="2596896"/>
            <a:ext cx="20848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90288" y="2596896"/>
            <a:ext cx="2084832" cy="64008"/>
          </a:xfrm>
          <a:prstGeom prst="rect">
            <a:avLst/>
          </a:prstGeom>
          <a:solidFill>
            <a:srgbClr val="C0437A"/>
          </a:solidFill>
          <a:ln w="12700">
            <a:solidFill>
              <a:srgbClr val="C0437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81728" y="2743200"/>
            <a:ext cx="365760" cy="365760"/>
          </a:xfrm>
          <a:prstGeom prst="ellipse">
            <a:avLst/>
          </a:prstGeom>
          <a:solidFill>
            <a:srgbClr val="C0437A"/>
          </a:solidFill>
          <a:ln w="12700">
            <a:solidFill>
              <a:srgbClr val="C0437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8172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20640" y="27432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033"/>
                </a:solidFill>
              </a:rPr>
              <a:t>🌐 Bahaya di Internet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681728" y="3191256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A6A"/>
                </a:solidFill>
              </a:rPr>
              <a:t>Cara aman menggunakan gadget dan media sosial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784848" y="2596896"/>
            <a:ext cx="20848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784848" y="2596896"/>
            <a:ext cx="2084832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76288" y="2743200"/>
            <a:ext cx="365760" cy="36576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628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315200" y="274320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033"/>
                </a:solidFill>
              </a:rPr>
              <a:t>🤝 Jaringan Aman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876288" y="3191256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A6A"/>
                </a:solidFill>
              </a:rPr>
              <a:t>Siapa saja yang bisa dipercaya dan cara membangun dukungan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💪  Aku Berhak Dilindungi!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914400"/>
          </a:xfrm>
          <a:prstGeom prst="rect">
            <a:avLst/>
          </a:prstGeom>
          <a:solidFill>
            <a:srgbClr val="EDE4F7"/>
          </a:solidFill>
          <a:ln w="25400">
            <a:solidFill>
              <a:srgbClr val="5B3F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033"/>
                </a:solidFill>
              </a:rPr>
              <a:t>🌟 Setiap anak — termasuk anak dengan disabilitas — BERHAK untuk merasa aman, dihormati, dan dilindungi dari segala bentuk kekerasan!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057400"/>
            <a:ext cx="199339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057400"/>
            <a:ext cx="1993392" cy="64008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2176272"/>
            <a:ext cx="822960" cy="822960"/>
          </a:xfrm>
          <a:prstGeom prst="ellipse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1762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🏠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" y="309067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033"/>
                </a:solidFill>
              </a:rPr>
              <a:t>Berhak Merasa Aman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49300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3A6A"/>
                </a:solidFill>
              </a:rPr>
              <a:t>Di rumah, di sekolah, dan di mana pun kamu berada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41448" y="2057400"/>
            <a:ext cx="199339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41448" y="2057400"/>
            <a:ext cx="1993392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26664" y="2176272"/>
            <a:ext cx="822960" cy="8229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26664" y="21762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🙅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532888" y="309067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033"/>
                </a:solidFill>
              </a:rPr>
              <a:t>Berhak Berkata TIDAK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32888" y="349300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3A6A"/>
                </a:solidFill>
              </a:rPr>
              <a:t>Boleh menolak sentuhan atau perintah yang tidak nyaman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08576" y="2057400"/>
            <a:ext cx="199339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08576" y="2057400"/>
            <a:ext cx="1993392" cy="64008"/>
          </a:xfrm>
          <a:prstGeom prst="rect">
            <a:avLst/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93792" y="2176272"/>
            <a:ext cx="822960" cy="822960"/>
          </a:xfrm>
          <a:prstGeom prst="ellipse">
            <a:avLst/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93792" y="21762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🤝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700016" y="309067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033"/>
                </a:solidFill>
              </a:rPr>
              <a:t>Berhak Mendapat Bantuan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0016" y="349300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3A6A"/>
                </a:solidFill>
              </a:rPr>
              <a:t>Siapa pun wajib membantu jika kamu dalam bahaya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775704" y="2057400"/>
            <a:ext cx="199339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75704" y="2057400"/>
            <a:ext cx="1993392" cy="640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60920" y="2176272"/>
            <a:ext cx="822960" cy="82296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60920" y="21762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867144" y="309067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033"/>
                </a:solidFill>
              </a:rPr>
              <a:t>Berhak Bicara &amp; Didengar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67144" y="349300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3A6A"/>
                </a:solidFill>
              </a:rPr>
              <a:t>Ceritamu penting! Orang dewasa harus mendengarkan kamu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EDE4F7"/>
          </a:solidFill>
          <a:ln w="12700">
            <a:solidFill>
              <a:srgbClr val="EDE4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407408"/>
            <a:ext cx="8595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3FA0"/>
                </a:solidFill>
              </a:rPr>
              <a:t>💜 Disabilitas BUKAN alasan untuk diperlakukan tidak baik. Kamu berharga dan berhak mendapat perlindungan!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🔒  Tubuhku Milikku!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566160" y="960120"/>
            <a:ext cx="2011680" cy="2011680"/>
          </a:xfrm>
          <a:prstGeom prst="ellipse">
            <a:avLst/>
          </a:prstGeom>
          <a:solidFill>
            <a:srgbClr val="D4F0F2"/>
          </a:solidFill>
          <a:ln w="38100">
            <a:solidFill>
              <a:srgbClr val="1B8A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9601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000000"/>
                </a:solidFill>
              </a:rPr>
              <a:t>🧒</a:t>
            </a:r>
            <a:endParaRPr lang="en-US" sz="6800" dirty="0"/>
          </a:p>
        </p:txBody>
      </p:sp>
      <p:sp>
        <p:nvSpPr>
          <p:cNvPr id="7" name="Shape 5"/>
          <p:cNvSpPr/>
          <p:nvPr/>
        </p:nvSpPr>
        <p:spPr>
          <a:xfrm>
            <a:off x="1371600" y="3063240"/>
            <a:ext cx="6400800" cy="658368"/>
          </a:xfrm>
          <a:prstGeom prst="roundRect">
            <a:avLst>
              <a:gd name="adj" fmla="val 13889"/>
            </a:avLst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3063240"/>
            <a:ext cx="64008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🩱 ATURAN PAKAIAN RENANG: Bagian yang tertutup pakaian renang adalah BAGIAN PRIBADI!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005840"/>
            <a:ext cx="30175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25400">
            <a:solidFill>
              <a:srgbClr val="1B8A8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005840"/>
            <a:ext cx="28346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3"/>
                </a:solidFill>
              </a:rPr>
              <a:t>🔵 Bagian Pribadi Atas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3"/>
                </a:solidFill>
              </a:rPr>
              <a:t>Dada &amp; punggung (ditutupi baju)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28600" y="1993392"/>
            <a:ext cx="30175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25400">
            <a:solidFill>
              <a:srgbClr val="1B8A8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1993392"/>
            <a:ext cx="28346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3"/>
                </a:solidFill>
              </a:rPr>
              <a:t>🔵 Bagian Pribadi Bawah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3"/>
                </a:solidFill>
              </a:rPr>
              <a:t>Area intim &amp; bokong (ditutupi celana)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0" y="1005840"/>
            <a:ext cx="29260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25400">
            <a:solidFill>
              <a:srgbClr val="5B3F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005840"/>
            <a:ext cx="27432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3"/>
                </a:solidFill>
              </a:rPr>
              <a:t>💜 Bagian Pribadi Laki-laki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3"/>
                </a:solidFill>
              </a:rPr>
              <a:t>Alat kelamin (penis &amp; testis)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1993392"/>
            <a:ext cx="29260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25400">
            <a:solidFill>
              <a:srgbClr val="C0437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1993392"/>
            <a:ext cx="27432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3"/>
                </a:solidFill>
              </a:rPr>
              <a:t>💗 Bagian Pribadi Perempuan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033"/>
                </a:solidFill>
              </a:rPr>
              <a:t>Payudara &amp; alat kelamin (vagina)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3858768"/>
            <a:ext cx="2377440" cy="475488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85876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👁️  TIDAK boleh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dilihat sembarangan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0" y="3858768"/>
            <a:ext cx="2377440" cy="475488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66160" y="385876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✋  TIDAK boleh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disentuh sembarangan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858768"/>
            <a:ext cx="2377440" cy="475488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9360" y="385876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📸  TIDAK boleh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difoto sembarangan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D4F0F2"/>
          </a:solidFill>
          <a:ln w="12700">
            <a:solidFill>
              <a:srgbClr val="D4F0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407408"/>
            <a:ext cx="8595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8A8F"/>
                </a:solidFill>
              </a:rPr>
              <a:t>✅ KECUALI: dokter atau perawat yang memeriksa kesehatanmu — dan orang tua yang membantu merawatmu!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✅❌  Sentuhan Aman vs Tidak Aman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4069080" cy="3273552"/>
          </a:xfrm>
          <a:prstGeom prst="rect">
            <a:avLst/>
          </a:prstGeom>
          <a:solidFill>
            <a:srgbClr val="DFF3EB"/>
          </a:solidFill>
          <a:ln w="25400">
            <a:solidFill>
              <a:srgbClr val="1E8A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87552"/>
            <a:ext cx="4069080" cy="502920"/>
          </a:xfrm>
          <a:prstGeom prst="rect">
            <a:avLst/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8755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✅  SENTUHAN AMAN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E8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572768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5727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3"/>
                </a:solidFill>
              </a:rPr>
              <a:t>Pelukan dari orang tua atau keluarga dekat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3977640" cy="457200"/>
          </a:xfrm>
          <a:prstGeom prst="rect">
            <a:avLst/>
          </a:prstGeom>
          <a:solidFill>
            <a:srgbClr val="E8F8F0"/>
          </a:solidFill>
          <a:ln w="12700">
            <a:solidFill>
              <a:srgbClr val="B8E8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10312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21031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3"/>
                </a:solidFill>
              </a:rPr>
              <a:t>Jabat tangan saat berkenalan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633472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E8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63347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263347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3"/>
                </a:solidFill>
              </a:rPr>
              <a:t>Tepukan di bahu sebagai penyemangat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3163824"/>
            <a:ext cx="3977640" cy="457200"/>
          </a:xfrm>
          <a:prstGeom prst="rect">
            <a:avLst/>
          </a:prstGeom>
          <a:solidFill>
            <a:srgbClr val="E8F8F0"/>
          </a:solidFill>
          <a:ln w="12700">
            <a:solidFill>
              <a:srgbClr val="B8E8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16382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🩺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316382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3"/>
                </a:solidFill>
              </a:rPr>
              <a:t>Pemeriksaan dokter saat kamu sakit (ada orang tua)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694176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E8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69417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💇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369417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3"/>
                </a:solidFill>
              </a:rPr>
              <a:t>Bantuan memandikan/merawat dari orang tua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46320" y="987552"/>
            <a:ext cx="4069080" cy="3273552"/>
          </a:xfrm>
          <a:prstGeom prst="rect">
            <a:avLst/>
          </a:prstGeom>
          <a:solidFill>
            <a:srgbClr val="FDECEA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987552"/>
            <a:ext cx="406908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98755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❌  SENTUHAN TIDAK AMAN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92040" y="1572768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C0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1572768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40680" y="15727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3"/>
                </a:solidFill>
              </a:rPr>
              <a:t>Menyentuh bagian pribadi tubuhmu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92040" y="2103120"/>
            <a:ext cx="3977640" cy="457200"/>
          </a:xfrm>
          <a:prstGeom prst="rect">
            <a:avLst/>
          </a:prstGeom>
          <a:solidFill>
            <a:srgbClr val="FEF5F5"/>
          </a:solidFill>
          <a:ln w="12700">
            <a:solidFill>
              <a:srgbClr val="F5C0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5192" y="210312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40680" y="21031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3"/>
                </a:solidFill>
              </a:rPr>
              <a:t>Memintamu menyentuh bagian pribadi mereka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92040" y="2633472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C0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65192" y="263347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440680" y="263347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3"/>
                </a:solidFill>
              </a:rPr>
              <a:t>Sentuhan yang membuatmu merasa tidak nyaman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92040" y="3163824"/>
            <a:ext cx="3977640" cy="457200"/>
          </a:xfrm>
          <a:prstGeom prst="rect">
            <a:avLst/>
          </a:prstGeom>
          <a:solidFill>
            <a:srgbClr val="FEF5F5"/>
          </a:solidFill>
          <a:ln w="12700">
            <a:solidFill>
              <a:srgbClr val="F5C0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65192" y="316382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40680" y="316382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3"/>
                </a:solidFill>
              </a:rPr>
              <a:t>Memeluk/mencium tanpa seizinmu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892040" y="3694176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C0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65192" y="369417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440680" y="369417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033"/>
                </a:solidFill>
              </a:rPr>
              <a:t>Sentuhan yang mereka minta dirahasiakan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FEF8DC"/>
          </a:solidFill>
          <a:ln w="12700">
            <a:solidFill>
              <a:srgbClr val="FEF8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407408"/>
            <a:ext cx="8595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7B2A"/>
                </a:solidFill>
              </a:rPr>
              <a:t>💡 Perasaanmu itu PENTING! Jika suatu sentuhan membuatmu tidak nyaman — itu TIDAK AMAN, apapun alasannya!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⚠️  Kenali Tanda Bahaya!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566928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🚨 Waspadai orang atau situasi berikut ini — ini tanda-tanda TIDAK AMAN!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4251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5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64208"/>
            <a:ext cx="73152" cy="7863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664208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🎁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87552" y="17190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033"/>
                </a:solidFill>
              </a:rPr>
              <a:t>Tawaran Hadiah / Iming-iming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202996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A6A"/>
                </a:solidFill>
              </a:rPr>
              <a:t>Orang yang memberi hadiah lalu meminta kamu melakukan hal yang tidak nyaman atau tidak boleh.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664208"/>
            <a:ext cx="4251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5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664208"/>
            <a:ext cx="73152" cy="7863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664208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🤫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22392" y="17190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033"/>
                </a:solidFill>
              </a:rPr>
              <a:t>Minta Dirahasiakan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22392" y="202996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A6A"/>
                </a:solidFill>
              </a:rPr>
              <a:t>Orang yang berkata 'jangan cerita ke siapa-siapa' atau 'ini rahasia kita berdua saja'.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560320"/>
            <a:ext cx="4251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5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560320"/>
            <a:ext cx="73152" cy="7863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56032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7552" y="26151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033"/>
                </a:solidFill>
              </a:rPr>
              <a:t>Minta Foto / Video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29260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A6A"/>
                </a:solidFill>
              </a:rPr>
              <a:t>Orang yang meminta memfoto atau memvideo tubuhmu, terutama bagian pribadi.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560320"/>
            <a:ext cx="4251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5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560320"/>
            <a:ext cx="73152" cy="7863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256032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😰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22392" y="26151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033"/>
                </a:solidFill>
              </a:rPr>
              <a:t>Membuatmu Takut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22392" y="29260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A6A"/>
                </a:solidFill>
              </a:rPr>
              <a:t>Orang yang mengancam, menakut-nakuti, atau membuatmu merasa tertekan dan tidak aman.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456432"/>
            <a:ext cx="4251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5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456432"/>
            <a:ext cx="73152" cy="7863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456432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🌙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87552" y="35112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033"/>
                </a:solidFill>
              </a:rPr>
              <a:t>Mengajak ke Tempat Sepi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7552" y="38221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A6A"/>
                </a:solidFill>
              </a:rPr>
              <a:t>Orang yang terus mengajak pergi ke tempat yang sepi, gelap, atau jauh dari orang banyak.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456432"/>
            <a:ext cx="4251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5C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456432"/>
            <a:ext cx="73152" cy="7863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3456432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422392" y="35112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033"/>
                </a:solidFill>
              </a:rPr>
              <a:t>Kontak Berlebihan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22392" y="38221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A6A"/>
                </a:solidFill>
              </a:rPr>
              <a:t>Orang dewasa yang terus menghubungimu diam-diam lewat HP tanpa sepengetahuan orang tua.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407408"/>
            <a:ext cx="8595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JIKA TERJADI: Pergi ke tempat aman, teriak TOLONG!, dan segera cerita ke orang yang kamu percaya!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🗣️  Cara Melindungi Diri: 3 Langkah Mudah!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9144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078992"/>
            <a:ext cx="804672" cy="8046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789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34440" y="100584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✋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103120" y="10789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Bilang TIDAK!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77640" y="1051560"/>
            <a:ext cx="47548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033"/>
                </a:solidFill>
              </a:rPr>
              <a:t>Katakan dengan lantang: "TIDAK! Aku TIDAK mau!"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033"/>
                </a:solidFill>
              </a:rPr>
              <a:t>Kamu boleh menolak siapa pun — bahkan orang dewasa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033"/>
                </a:solidFill>
              </a:rPr>
              <a:t>Tidak perlu takut atau sopan jika kamu merasa tidak aman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033"/>
                </a:solidFill>
              </a:rPr>
              <a:t>Pakai suara keras dan ekspresi serius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066544"/>
            <a:ext cx="8595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66544"/>
            <a:ext cx="91440" cy="96012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139696"/>
            <a:ext cx="804672" cy="804672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13969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234440" y="2066544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🏃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103120" y="21396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B2A"/>
                </a:solidFill>
              </a:rPr>
              <a:t>Pergi &amp; Lari!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77640" y="2112264"/>
            <a:ext cx="47548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033"/>
                </a:solidFill>
              </a:rPr>
              <a:t>Segera pergi dari tempat itu secepat mungkin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033"/>
                </a:solidFill>
              </a:rPr>
              <a:t>Lari ke tempat yang ramai dan terang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033"/>
                </a:solidFill>
              </a:rPr>
              <a:t>Cari orang dewasa yang kamu percaya di sekitarmu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033"/>
                </a:solidFill>
              </a:rPr>
              <a:t>Jangan tunggu — langsung pergi!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127248"/>
            <a:ext cx="8595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127248"/>
            <a:ext cx="91440" cy="960120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200400"/>
            <a:ext cx="804672" cy="804672"/>
          </a:xfrm>
          <a:prstGeom prst="ellipse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20040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234440" y="3127248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📢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2103120" y="3200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3FA0"/>
                </a:solidFill>
              </a:rPr>
              <a:t>Ceritakan!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977640" y="3172968"/>
            <a:ext cx="47548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033"/>
                </a:solidFill>
              </a:rPr>
              <a:t>Ceritakan kepada orang tua, guru, atau orang dewasa terpercaya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033"/>
                </a:solidFill>
              </a:rPr>
              <a:t>Cerita terus sampai ada yang mendengar dan membantumu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033"/>
                </a:solidFill>
              </a:rPr>
              <a:t>INI BUKAN SALAHMU — kamu tidak perlu malu untuk bercerita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033"/>
                </a:solidFill>
              </a:rPr>
              <a:t>Semakin cepat cerita, semakin cepat kamu dibantu!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FEF0E3"/>
          </a:solidFill>
          <a:ln w="12700">
            <a:solidFill>
              <a:srgbClr val="FEF0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407408"/>
            <a:ext cx="8595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7B2A"/>
                </a:solidFill>
              </a:rPr>
              <a:t>🌟 Latih terus 3 langkah ini sampai kamu hafal! Bilang TIDAK → Lari → Cerita!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🆘  Kepada Siapa Aku Minta Tolong?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566160" y="1691640"/>
            <a:ext cx="2011680" cy="2011680"/>
          </a:xfrm>
          <a:prstGeom prst="ellipse">
            <a:avLst/>
          </a:prstGeom>
          <a:solidFill>
            <a:srgbClr val="DBEAFE"/>
          </a:solidFill>
          <a:ln w="38100">
            <a:solidFill>
              <a:srgbClr val="2563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566160" y="16916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A8"/>
                </a:solidFill>
              </a:rPr>
              <a:t>🧒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2563A8"/>
                </a:solidFill>
              </a:rPr>
              <a:t>AKU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148840" y="1920240"/>
            <a:ext cx="1463040" cy="6400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23560" y="1920240"/>
            <a:ext cx="1463040" cy="6400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8840" y="3291840"/>
            <a:ext cx="1463040" cy="6400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23560" y="3291840"/>
            <a:ext cx="1463040" cy="6400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051560"/>
            <a:ext cx="18288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3703320"/>
            <a:ext cx="182880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417320"/>
            <a:ext cx="192024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5B3F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417320"/>
            <a:ext cx="1920240" cy="54864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5087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👨‍👩‍👧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95528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033"/>
                </a:solidFill>
              </a:rPr>
              <a:t>Ayah &amp; Ibu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5528" y="18562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A6A"/>
                </a:solidFill>
              </a:rPr>
              <a:t>Orang pertama yang harus diceritai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0" y="1417320"/>
            <a:ext cx="192024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1417320"/>
            <a:ext cx="192024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5087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👮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424928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033"/>
                </a:solidFill>
              </a:rPr>
              <a:t>Polisi (110)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24928" y="18562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A6A"/>
                </a:solidFill>
              </a:rPr>
              <a:t>Hubungi 110 jika dalam bahaya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2971800"/>
            <a:ext cx="192024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8A8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971800"/>
            <a:ext cx="1920240" cy="54864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0632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👨‍🏫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95528" y="3063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033"/>
                </a:solidFill>
              </a:rPr>
              <a:t>Guru / Kepala Sekolah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5528" y="341071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A6A"/>
                </a:solidFill>
              </a:rPr>
              <a:t>Cerita langsung atau lewat surat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0" y="2971800"/>
            <a:ext cx="192024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A5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0" y="2971800"/>
            <a:ext cx="1920240" cy="54864"/>
          </a:xfrm>
          <a:prstGeom prst="rect">
            <a:avLst/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30632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424928" y="3063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033"/>
                </a:solidFill>
              </a:rPr>
              <a:t>Dokter / Psikolog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24928" y="341071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A6A"/>
                </a:solidFill>
              </a:rPr>
              <a:t>Untuk bantuan kesehatan fisik &amp; mental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0" y="914400"/>
            <a:ext cx="192024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0" y="914400"/>
            <a:ext cx="1920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06040" y="10058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☎️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3127248" y="1005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033"/>
                </a:solidFill>
              </a:rPr>
              <a:t>Hotline KPAI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A1033"/>
                </a:solidFill>
              </a:rPr>
              <a:t>(021-3150 - 112)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127248" y="135331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A6A"/>
                </a:solidFill>
              </a:rPr>
              <a:t>Komisi Perlindungan Anak Indonesia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560320" y="3429000"/>
            <a:ext cx="192024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07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560320" y="3429000"/>
            <a:ext cx="1920240" cy="54864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06040" y="35204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3127248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033"/>
                </a:solidFill>
              </a:rPr>
              <a:t>Saudara / Keluarga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127248" y="386791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A6A"/>
                </a:solidFill>
              </a:rPr>
              <a:t>Paman, bibi, atau kakak yang dipercaya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407408"/>
            <a:ext cx="8595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A8"/>
                </a:solidFill>
              </a:rPr>
              <a:t>💙 Jika satu orang tidak percaya — ceritakan lagi kepada orang lain! Terus cerita sampai dibantu!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437A"/>
          </a:solidFill>
          <a:ln w="12700">
            <a:solidFill>
              <a:srgbClr val="C043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🌐  Aman di Internet &amp; Gadget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4069080" cy="3291840"/>
          </a:xfrm>
          <a:prstGeom prst="rect">
            <a:avLst/>
          </a:prstGeom>
          <a:solidFill>
            <a:srgbClr val="FDECEA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87552"/>
            <a:ext cx="406908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8755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 Bahaya Online yang Harus Diwaspadai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36192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C0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53619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53619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3"/>
                </a:solidFill>
              </a:rPr>
              <a:t>Orang asing yang pura-pura jadi teman di media sosial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066544"/>
            <a:ext cx="3977640" cy="457200"/>
          </a:xfrm>
          <a:prstGeom prst="rect">
            <a:avLst/>
          </a:prstGeom>
          <a:solidFill>
            <a:srgbClr val="FEF5F5"/>
          </a:solidFill>
          <a:ln w="12700">
            <a:solidFill>
              <a:srgbClr val="F5C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06654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206654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3"/>
                </a:solidFill>
              </a:rPr>
              <a:t>Orang yang meminta foto/video pribadi atau bagian tubuhmu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96896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C0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59689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259689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3"/>
                </a:solidFill>
              </a:rPr>
              <a:t>Pesan yang berisi kata-kata kotor, menakutkan, atau tidak sopan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127248"/>
            <a:ext cx="3977640" cy="457200"/>
          </a:xfrm>
          <a:prstGeom prst="rect">
            <a:avLst/>
          </a:prstGeom>
          <a:solidFill>
            <a:srgbClr val="FEF5F5"/>
          </a:solidFill>
          <a:ln w="12700">
            <a:solidFill>
              <a:srgbClr val="F5C0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127248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31272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3"/>
                </a:solidFill>
              </a:rPr>
              <a:t>Link atau video yang berisi konten tidak pantas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C0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65760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36576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3"/>
                </a:solidFill>
              </a:rPr>
              <a:t>Orang yang mengajak bertemu di dunia nyata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987552"/>
            <a:ext cx="4069080" cy="3291840"/>
          </a:xfrm>
          <a:prstGeom prst="rect">
            <a:avLst/>
          </a:prstGeom>
          <a:solidFill>
            <a:srgbClr val="DFF3EB"/>
          </a:solidFill>
          <a:ln w="25400">
            <a:solidFill>
              <a:srgbClr val="1E8A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987552"/>
            <a:ext cx="4069080" cy="475488"/>
          </a:xfrm>
          <a:prstGeom prst="rect">
            <a:avLst/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98755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Aturan Aman Online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92040" y="1536192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E8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153619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40680" y="153619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3"/>
                </a:solidFill>
              </a:rPr>
              <a:t>Jangan bagikan nama, alamat, atau nomor HP ke orang asing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2066544"/>
            <a:ext cx="3977640" cy="457200"/>
          </a:xfrm>
          <a:prstGeom prst="rect">
            <a:avLst/>
          </a:prstGeom>
          <a:solidFill>
            <a:srgbClr val="E8F8F0"/>
          </a:solidFill>
          <a:ln w="12700">
            <a:solidFill>
              <a:srgbClr val="B8E8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5192" y="206654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📵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40680" y="206654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3"/>
                </a:solidFill>
              </a:rPr>
              <a:t>Langsung tutup/hapus jika ada pesan atau gambar yang aneh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2596896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E8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65192" y="259689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👨‍👩‍👧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440680" y="259689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3"/>
                </a:solidFill>
              </a:rPr>
              <a:t>Selalu minta izin orang tua sebelum menggunakan internet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3127248"/>
            <a:ext cx="3977640" cy="457200"/>
          </a:xfrm>
          <a:prstGeom prst="rect">
            <a:avLst/>
          </a:prstGeom>
          <a:solidFill>
            <a:srgbClr val="E8F8F0"/>
          </a:solidFill>
          <a:ln w="12700">
            <a:solidFill>
              <a:srgbClr val="B8E8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65192" y="3127248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40680" y="31272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3"/>
                </a:solidFill>
              </a:rPr>
              <a:t>Jangan pernah temui orang yang hanya kamu kenal online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92040" y="3657600"/>
            <a:ext cx="3977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E8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65192" y="365760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📢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440680" y="36576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033"/>
                </a:solidFill>
              </a:rPr>
              <a:t>Cerita ke orang tua jika kamu menerima pesan yang mengganggu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FCEAF4"/>
          </a:solidFill>
          <a:ln w="12700">
            <a:solidFill>
              <a:srgbClr val="FCEA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407408"/>
            <a:ext cx="8595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437A"/>
                </a:solidFill>
              </a:rPr>
              <a:t>📱 Ingat: Orang jahat di internet juga bisa sangat berbahaya! Selalu hati-hati dan tanya orang tua!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🎭  Latihan: Apa yang Aku Lakukan?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EDE4F7"/>
          </a:solidFill>
          <a:ln w="19050">
            <a:solidFill>
              <a:srgbClr val="5B3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033"/>
                </a:solidFill>
              </a:rPr>
              <a:t>🎯 Baca situasi berikut. Apa yang harus kamu lakukan? Diskusikan bersama teman atau guru!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00200"/>
            <a:ext cx="9144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60020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🧑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024128" y="1655064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165506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Situasi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37360" y="1636776"/>
            <a:ext cx="384048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3"/>
                </a:solidFill>
              </a:rPr>
              <a:t>Seorang orang dewasa yang kamu kenal menyentuh tubuhmu di bagian pribadi dan berkata "ini hanya permainan kita saja".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0" y="1655064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165506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Lakukan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1636776"/>
            <a:ext cx="23317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A5E"/>
                </a:solidFill>
              </a:rPr>
              <a:t>Bilang TIDAK! keras, langsung pergi, dan cerita ke orang tua atau guru hari ini juga.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532888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532888"/>
            <a:ext cx="91440" cy="822960"/>
          </a:xfrm>
          <a:prstGeom prst="rect">
            <a:avLst/>
          </a:prstGeom>
          <a:solidFill>
            <a:srgbClr val="C0437A"/>
          </a:solidFill>
          <a:ln w="12700">
            <a:solidFill>
              <a:srgbClr val="C043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532888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1024128" y="2587752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C0437A"/>
          </a:solidFill>
          <a:ln w="12700">
            <a:solidFill>
              <a:srgbClr val="C043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25877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Situasi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37360" y="2569464"/>
            <a:ext cx="384048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3"/>
                </a:solidFill>
              </a:rPr>
              <a:t>Seseorang yang kamu kenal dari media sosial meminta kamu mengirimkan foto dirimu dan berjanji akan memberi hadiah.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0" y="2587752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25877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Lakukan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2569464"/>
            <a:ext cx="23317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A5E"/>
                </a:solidFill>
              </a:rPr>
              <a:t>Jangan kirim! Tutup percakapan, blokir akun tersebut, dan tunjukkan ke orang tua.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465576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465576"/>
            <a:ext cx="91440" cy="82296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465576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🎁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1024128" y="3520440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" y="35204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Situasi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737360" y="3502152"/>
            <a:ext cx="384048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033"/>
                </a:solidFill>
              </a:rPr>
              <a:t>Seseorang memberi kamu hadiah dan mengajak pergi ke suatu tempat tanpa orang tua dengan alasan "biar lebih seru".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0" y="3520440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35204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Lakukan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3502152"/>
            <a:ext cx="23317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A5E"/>
                </a:solidFill>
              </a:rPr>
              <a:t>Tolak hadiahnya, jangan ikut pergi, dan langsung ceritakan ke orang tua segera.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FEF8DC"/>
          </a:solidFill>
          <a:ln w="12700">
            <a:solidFill>
              <a:srgbClr val="FEF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407408"/>
            <a:ext cx="8595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7B2A"/>
                </a:solidFill>
              </a:rPr>
              <a:t>🏆 Latihan = Persiapan! Semakin sering berlatih, semakin kamu siap melindungi dirimu sendiri!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♿  Kamu Kuat &amp; Berhak Dilindungi!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731520"/>
          </a:xfrm>
          <a:prstGeom prst="rect">
            <a:avLst/>
          </a:prstGeom>
          <a:solidFill>
            <a:srgbClr val="D4F0F2"/>
          </a:solidFill>
          <a:ln w="25400">
            <a:solidFill>
              <a:srgbClr val="1B8A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87552"/>
            <a:ext cx="822960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3"/>
                </a:solidFill>
              </a:rPr>
              <a:t>Anak dengan disabilitas LEBIH BERISIKO mengalami kekerasan. Tapi kamu BISA melindungi dirimu dengan cara yang tepat untuk kondisimu!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274320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28800"/>
            <a:ext cx="2743200" cy="56692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🦻  Disabilitas Pendengaran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2487168"/>
            <a:ext cx="228600" cy="22860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50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033"/>
                </a:solidFill>
              </a:rPr>
              <a:t>Gunakan kartu bertulisan 'TOLONG' atau 'TIDAK' yang sudah disiapkan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3108960"/>
            <a:ext cx="228600" cy="22860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723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033"/>
                </a:solidFill>
              </a:rPr>
              <a:t>Pelajari tanda bahaya dalam Bahasa Isyarat Indonesia (BISINDO)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3730752"/>
            <a:ext cx="228600" cy="22860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69417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033"/>
                </a:solidFill>
              </a:rPr>
              <a:t>Pastikan selalu ada orang terpercaya yang bisa menjadi jembatan komunikasimu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1828800"/>
            <a:ext cx="274320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5B3F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828800"/>
            <a:ext cx="2743200" cy="566928"/>
          </a:xfrm>
          <a:prstGeom prst="rect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8288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👁️  Disabilitas Penglihatan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10128" y="2487168"/>
            <a:ext cx="228600" cy="228600"/>
          </a:xfrm>
          <a:prstGeom prst="ellipse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2450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033"/>
                </a:solidFill>
              </a:rPr>
              <a:t>Percayai insting/perasaanmu — jika ada yang aneh, kamu berhak pergi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10128" y="3108960"/>
            <a:ext cx="228600" cy="228600"/>
          </a:xfrm>
          <a:prstGeom prst="ellipse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30723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033"/>
                </a:solidFill>
              </a:rPr>
              <a:t>Hafalkan nomor telepon darurat dan orang terpercaya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10128" y="3730752"/>
            <a:ext cx="228600" cy="228600"/>
          </a:xfrm>
          <a:prstGeom prst="ellipse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369417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033"/>
                </a:solidFill>
              </a:rPr>
              <a:t>Minta bantuan orang yang kamu percaya untuk mendampingimu di tempat baru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1828800"/>
            <a:ext cx="274320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B8A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828800"/>
            <a:ext cx="2743200" cy="566928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8288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🧠  Disabilitas Intelektual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36208" y="2487168"/>
            <a:ext cx="228600" cy="22860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2450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033"/>
                </a:solidFill>
              </a:rPr>
              <a:t>Latihan rutin dengan orang tua tentang bagian tubuh pribadi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36208" y="3108960"/>
            <a:ext cx="228600" cy="22860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30723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033"/>
                </a:solidFill>
              </a:rPr>
              <a:t>Gunakan gambar / simbol untuk membantu mengingat aturan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36208" y="3730752"/>
            <a:ext cx="228600" cy="228600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369417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033"/>
                </a:solidFill>
              </a:rPr>
              <a:t>Orang tua &amp; guru harus selalu mendampingi dan memantau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D4F0F2"/>
          </a:solidFill>
          <a:ln w="12700">
            <a:solidFill>
              <a:srgbClr val="D4F0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407408"/>
            <a:ext cx="8595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8A8F"/>
                </a:solidFill>
              </a:rPr>
              <a:t>💪 Setiap kondisi disabilitas itu unik. Bicarakan bersama orang tua cara perlindungan yang paling sesuai untukmu!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📞  Nomor Darurat yang Harus Diingat!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5196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15568"/>
            <a:ext cx="749808" cy="749808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1556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🚔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1078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33"/>
                </a:solidFill>
              </a:rPr>
              <a:t>POLISI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A8"/>
                </a:solidFill>
              </a:rPr>
              <a:t>110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664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A6A"/>
                </a:solidFill>
              </a:rPr>
              <a:t>Jika ada bahaya atau kejahatan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425196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18888" y="1115568"/>
            <a:ext cx="749808" cy="7498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11556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🚑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69280" y="1078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33"/>
                </a:solidFill>
              </a:rPr>
              <a:t>AMBULANS / DARURAT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119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69280" y="1664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A6A"/>
                </a:solidFill>
              </a:rPr>
              <a:t>Darurat kesehatan &amp; keselamatan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084832"/>
            <a:ext cx="425196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5B3F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194560"/>
            <a:ext cx="749808" cy="749808"/>
          </a:xfrm>
          <a:prstGeom prst="ellipse">
            <a:avLst/>
          </a:prstGeom>
          <a:solidFill>
            <a:srgbClr val="5B3FA0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1945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👶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234440" y="21579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33"/>
                </a:solidFill>
              </a:rPr>
              <a:t>HOTLINE ANAK (Kemensos)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3FA0"/>
                </a:solidFill>
              </a:rPr>
              <a:t>1500-771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2743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A6A"/>
                </a:solidFill>
              </a:rPr>
              <a:t>Khusus perlindungan anak dari kekerasan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084832"/>
            <a:ext cx="425196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8A8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18888" y="2194560"/>
            <a:ext cx="749808" cy="749808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21945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🧒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669280" y="21579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33"/>
                </a:solidFill>
              </a:rPr>
              <a:t>KPAI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8A8F"/>
                </a:solidFill>
              </a:rPr>
              <a:t>021-3150-112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69280" y="2743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A6A"/>
                </a:solidFill>
              </a:rPr>
              <a:t>Komisi Perlindungan Anak Indonesia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163824"/>
            <a:ext cx="425196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A5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3273552"/>
            <a:ext cx="749808" cy="749808"/>
          </a:xfrm>
          <a:prstGeom prst="ellipse">
            <a:avLst/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27355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👩‍⚖️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1234440" y="32369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33"/>
                </a:solidFill>
              </a:rPr>
              <a:t>P2TP2A (Dinas Sosial)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234440" y="3529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A5E"/>
                </a:solidFill>
              </a:rPr>
              <a:t>Tanya ke guru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34440" y="38221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A6A"/>
                </a:solidFill>
              </a:rPr>
              <a:t>Pusat Pelayanan Terpadu Perempuan &amp; Anak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3163824"/>
            <a:ext cx="425196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07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18888" y="3273552"/>
            <a:ext cx="749808" cy="749808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327355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5669280" y="32369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033"/>
                </a:solidFill>
              </a:rPr>
              <a:t>PUSKESMAS / RS TERDEKAT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0" y="3529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2A"/>
                </a:solidFill>
              </a:rPr>
              <a:t>Tanya ke orang tua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669280" y="38221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A6A"/>
                </a:solidFill>
              </a:rPr>
              <a:t>Untuk bantuan medis dan pendampingan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407408"/>
            <a:ext cx="8595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033"/>
                </a:solidFill>
              </a:rPr>
              <a:t>⭐ Simpan nomor-nomor ini di HP kamu atau hafal nomor polisi 110 agar mudah diingat saat butuh bantuan!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A24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6B3FA0">
              <a:alpha val="38000"/>
            </a:srgbClr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926080" cy="2926080"/>
          </a:xfrm>
          <a:prstGeom prst="ellipse">
            <a:avLst/>
          </a:prstGeom>
          <a:solidFill>
            <a:srgbClr val="6B3FA0">
              <a:alpha val="38000"/>
            </a:srgbClr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03320" y="91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🛡️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Kamu Kuat! Kamu Berani!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755648"/>
            <a:ext cx="347472" cy="34747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755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719072"/>
            <a:ext cx="749808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Tubuhku adalah milikku — bagian pribadi tidak boleh disentuh sembarangan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822960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2286000"/>
            <a:ext cx="347472" cy="347472"/>
          </a:xfrm>
          <a:prstGeom prst="ellipse">
            <a:avLst/>
          </a:prstGeom>
          <a:solidFill>
            <a:srgbClr val="9EC5E2"/>
          </a:solidFill>
          <a:ln w="12700">
            <a:solidFill>
              <a:srgbClr val="9EC5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249424"/>
            <a:ext cx="749808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Aku berhak berkata TIDAK kepada siapa pun yang membuatku tidak nyaman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52344"/>
            <a:ext cx="822960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2816352"/>
            <a:ext cx="347472" cy="347472"/>
          </a:xfrm>
          <a:prstGeom prst="ellipse">
            <a:avLst/>
          </a:prstGeom>
          <a:solidFill>
            <a:srgbClr val="DFF3EB"/>
          </a:solidFill>
          <a:ln w="12700">
            <a:solidFill>
              <a:srgbClr val="DFF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816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🏃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779776"/>
            <a:ext cx="749808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Jika merasa tidak aman — pergi dan lari ke tempat yang aman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82696"/>
            <a:ext cx="822960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346704"/>
            <a:ext cx="347472" cy="347472"/>
          </a:xfrm>
          <a:prstGeom prst="ellipse">
            <a:avLst/>
          </a:prstGeom>
          <a:solidFill>
            <a:srgbClr val="FCEAF4"/>
          </a:solidFill>
          <a:ln w="12700">
            <a:solidFill>
              <a:srgbClr val="FCEA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310128"/>
            <a:ext cx="749808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Selalu ceritakan kepada orang tua atau guru jika ada yang mengganggu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813048"/>
            <a:ext cx="822960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" y="3877056"/>
            <a:ext cx="347472" cy="347472"/>
          </a:xfrm>
          <a:prstGeom prst="ellipse">
            <a:avLst/>
          </a:prstGeom>
          <a:solidFill>
            <a:srgbClr val="BBA8E0"/>
          </a:solidFill>
          <a:ln w="12700">
            <a:solidFill>
              <a:srgbClr val="BBA8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877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💜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3840480"/>
            <a:ext cx="749808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Ini BUKAN salahku — aku layak mendapatkan perlindungan dan rasa aman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1A0D30"/>
          </a:solidFill>
          <a:ln w="12700">
            <a:solidFill>
              <a:srgbClr val="1A0D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18"/>
                </a:solidFill>
              </a:rPr>
              <a:t>SAFE-ABLE  •  Perlindungan Diri Anak Disabilitas  •  SLB Negeri 1 Makassar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Perlindungan Diri Anak Disabilitas – SAFE-ABLE</dc:title>
  <dc:subject>PptxGenJS Presentation</dc:subject>
  <dc:creator>PptxGenJS</dc:creator>
  <cp:lastModifiedBy>PptxGenJS</cp:lastModifiedBy>
  <cp:revision>1</cp:revision>
  <dcterms:created xsi:type="dcterms:W3CDTF">2026-03-04T03:25:18Z</dcterms:created>
  <dcterms:modified xsi:type="dcterms:W3CDTF">2026-03-04T03:25:18Z</dcterms:modified>
</cp:coreProperties>
</file>